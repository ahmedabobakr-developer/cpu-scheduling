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4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5143500" cy="9144000"/>
  <p:embeddedFontLst>
    <p:embeddedFont>
      <p:font typeface="Abadi" panose="020B0604020104020204" pitchFamily="34" charset="0"/>
      <p:regular r:id="rId9"/>
      <p:bold r:id="rId10"/>
    </p:embeddedFont>
    <p:embeddedFont>
      <p:font typeface="Aharoni" panose="02010803020104030203" pitchFamily="2" charset="-79"/>
      <p:bold r:id="rId11"/>
    </p:embeddedFont>
    <p:embeddedFont>
      <p:font typeface="Kanit" panose="020B0604020202020204" charset="-34"/>
      <p:regular r:id="rId12"/>
    </p:embeddedFont>
    <p:embeddedFont>
      <p:font typeface="Martel Sans Light" panose="020B0604020202020204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2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545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D6CC-A833-D5C9-5024-A294E77C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F799D-13DA-4751-77C2-8CAFC08D3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0E48A-3BFB-3B1D-3BB8-13770998B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98E09-4F15-1D72-AE48-A89314EFB4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10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7756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3106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9329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1415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690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1728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474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3315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1451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3839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404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172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301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8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346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88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128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hf sldNum="0" hdr="0" ftr="0" dt="0"/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33824" y="1196659"/>
            <a:ext cx="3676351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CPU Scheduling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40145" y="2685081"/>
            <a:ext cx="7515659" cy="114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8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Round Robin          VS          Shortest Job First 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1600" dirty="0">
              <a:solidFill>
                <a:srgbClr val="D9E1FF"/>
              </a:solidFill>
              <a:latin typeface="Aharoni" panose="02010803020104030203" pitchFamily="2" charset="-79"/>
              <a:ea typeface="Martel Sans Light" pitchFamily="34" charset="-122"/>
              <a:cs typeface="Aharoni" panose="02010803020104030203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337" y="440955"/>
            <a:ext cx="2933254" cy="307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Three Levels of Schedulers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1397" y="984040"/>
            <a:ext cx="327273" cy="3272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97" y="1474949"/>
            <a:ext cx="184234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Long-term Scheduler (Job)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81397" y="1745965"/>
            <a:ext cx="309060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Determines which programs are admitted to the system for processing. Controls the degree of multiprogramming by admitting jobs into the ready pool.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959" y="3214128"/>
            <a:ext cx="327273" cy="3272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758" y="3309639"/>
            <a:ext cx="191564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Short-term Scheduler (CPU)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81758" y="3580655"/>
            <a:ext cx="702874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Selects from ready-to-run processes in memory and allocates the CPU. Makes frequent decisions to switch CPU among processes.</a:t>
            </a:r>
            <a:endParaRPr lang="en-US" sz="1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6625" y="948184"/>
            <a:ext cx="334926" cy="3272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56624" y="1439093"/>
            <a:ext cx="171339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Medium-term Scheduler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656625" y="1710109"/>
            <a:ext cx="287519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Improves performance by swapping processes out of memory to disk (and back), reducing the degree of multiprogramming when needed.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16" y="413667"/>
            <a:ext cx="6774704" cy="307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Scheduling Types &amp; The Dispatcher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4316" y="1020139"/>
            <a:ext cx="2374606" cy="505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Scheduling Types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24316" y="1491446"/>
            <a:ext cx="7922999" cy="505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b="1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Non-Preemptive</a:t>
            </a:r>
            <a:r>
              <a:rPr lang="en-US" sz="16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: Process keeps CPU until termination or waiting.</a:t>
            </a:r>
            <a:endParaRPr lang="en-US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l">
              <a:lnSpc>
                <a:spcPts val="1600"/>
              </a:lnSpc>
              <a:buSzPct val="100000"/>
            </a:pPr>
            <a:endParaRPr lang="en-US" sz="1600" b="1" dirty="0">
              <a:solidFill>
                <a:srgbClr val="D9E1FF"/>
              </a:solidFill>
              <a:latin typeface="Aharoni" panose="02010803020104030203" pitchFamily="2" charset="-79"/>
              <a:ea typeface="Martel Sans Light" pitchFamily="34" charset="-122"/>
              <a:cs typeface="Aharoni" panose="02010803020104030203" pitchFamily="2" charset="-79"/>
            </a:endParaRPr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b="1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Preemptive</a:t>
            </a:r>
            <a:r>
              <a:rPr lang="en-US" sz="16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: OS can force a process to yield the CPU (enables responsiveness).</a:t>
            </a:r>
            <a:endParaRPr lang="en-US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4316" y="2766942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Dispatcher &amp; Latency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4315" y="3310502"/>
            <a:ext cx="7047345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The dispatcher is the module that gives control of the CPU to the selected process. Dispatch latency is the time taken to stop one process and start another — a critical factor for responsiveness.</a:t>
            </a:r>
            <a:endParaRPr lang="en-US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290" y="335825"/>
            <a:ext cx="3864590" cy="307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purpose of CPU scheduling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95001" y="781719"/>
            <a:ext cx="8168283" cy="1485993"/>
          </a:xfrm>
          <a:prstGeom prst="roundRect">
            <a:avLst>
              <a:gd name="adj" fmla="val 4264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6" y="781719"/>
            <a:ext cx="101689" cy="1485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3047" y="926902"/>
            <a:ext cx="1540073" cy="177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Maximize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3047" y="1197917"/>
            <a:ext cx="7937376" cy="789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CPU Utilization — keep the CPU busy as much as possible.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1400" dirty="0">
              <a:solidFill>
                <a:srgbClr val="D9E1FF"/>
              </a:solidFill>
              <a:latin typeface="Aharoni" panose="02010803020104030203" pitchFamily="2" charset="-79"/>
              <a:ea typeface="Martel Sans Light" pitchFamily="34" charset="-122"/>
              <a:cs typeface="Aharoni" panose="02010803020104030203" pitchFamily="2" charset="-79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 Throughput — maximize number of processes completed per time unit.</a:t>
            </a:r>
            <a:endParaRPr lang="en-US" sz="1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95000" y="2806303"/>
            <a:ext cx="8168283" cy="1608386"/>
          </a:xfrm>
          <a:prstGeom prst="roundRect">
            <a:avLst>
              <a:gd name="adj" fmla="val 4264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24" y="2806303"/>
            <a:ext cx="101689" cy="16083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3044" y="2951485"/>
            <a:ext cx="315835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Minimize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83044" y="3222501"/>
            <a:ext cx="7619707" cy="104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Turnaround Time (TAT) — elapsed time from submission to completion. 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1400" dirty="0">
              <a:solidFill>
                <a:srgbClr val="D9E1FF"/>
              </a:solidFill>
              <a:latin typeface="Aharoni" panose="02010803020104030203" pitchFamily="2" charset="-79"/>
              <a:ea typeface="Martel Sans Light" pitchFamily="34" charset="-122"/>
              <a:cs typeface="Aharoni" panose="02010803020104030203" pitchFamily="2" charset="-79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Waiting Time (WT) — total time a process spends in ready queue.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1400" dirty="0">
              <a:solidFill>
                <a:srgbClr val="D9E1FF"/>
              </a:solidFill>
              <a:latin typeface="Aharoni" panose="02010803020104030203" pitchFamily="2" charset="-79"/>
              <a:ea typeface="Martel Sans Light" pitchFamily="34" charset="-122"/>
              <a:cs typeface="Aharoni" panose="02010803020104030203" pitchFamily="2" charset="-79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Response Time — time from request to first response (important for interactive systems).</a:t>
            </a:r>
            <a:endParaRPr lang="en-US" sz="1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95C65D4-1F4C-51B1-B45A-5CEE8DE6D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236997"/>
            <a:ext cx="2464147" cy="307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Algorithms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8824" y="1029428"/>
            <a:ext cx="3647752" cy="296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SJF (Non-Preemptive)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8823" y="1401670"/>
            <a:ext cx="7896075" cy="128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"Shortest Job First" executes the process with the minimum CPU burst time first.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1400" dirty="0">
              <a:solidFill>
                <a:srgbClr val="D9E1FF"/>
              </a:solidFill>
              <a:latin typeface="Aharoni" panose="02010803020104030203" pitchFamily="2" charset="-79"/>
              <a:ea typeface="Martel Sans Light" pitchFamily="34" charset="-122"/>
              <a:cs typeface="Aharoni" panose="02010803020104030203" pitchFamily="2" charset="-79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It minimizes average waiting time when short jobs are frequent but can lead to starvation for long jobs.</a:t>
            </a:r>
            <a:endParaRPr lang="en-US" sz="1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xt 3"/>
          <p:cNvSpPr/>
          <p:nvPr/>
        </p:nvSpPr>
        <p:spPr>
          <a:xfrm>
            <a:off x="828824" y="2857500"/>
            <a:ext cx="4106440" cy="296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Round Robin (Preemptive)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28822" y="3306676"/>
            <a:ext cx="7896077" cy="128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Each process gets a fixed Time Quantum (q).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1400" dirty="0">
              <a:solidFill>
                <a:srgbClr val="D9E1FF"/>
              </a:solidFill>
              <a:latin typeface="Aharoni" panose="02010803020104030203" pitchFamily="2" charset="-79"/>
              <a:ea typeface="Martel Sans Light" pitchFamily="34" charset="-122"/>
              <a:cs typeface="Aharoni" panose="02010803020104030203" pitchFamily="2" charset="-79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If it doesn't finish within q, it returns to the end of the ready queue.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sz="1400" dirty="0">
              <a:solidFill>
                <a:srgbClr val="D9E1FF"/>
              </a:solidFill>
              <a:latin typeface="Aharoni" panose="02010803020104030203" pitchFamily="2" charset="-79"/>
              <a:ea typeface="Martel Sans Light" pitchFamily="34" charset="-122"/>
              <a:cs typeface="Aharoni" panose="02010803020104030203" pitchFamily="2" charset="-79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haroni" panose="02010803020104030203" pitchFamily="2" charset="-79"/>
                <a:ea typeface="Martel Sans Light" pitchFamily="34" charset="-122"/>
                <a:cs typeface="Aharoni" panose="02010803020104030203" pitchFamily="2" charset="-79"/>
              </a:rPr>
              <a:t>Worst-case wait for a process is (n−1)·q units (where n is number of processes).</a:t>
            </a:r>
            <a:endParaRPr lang="en-US" sz="1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698A-2D4B-EC86-BDB7-0F20BFB9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C8C5008-E3A0-CC51-4938-80B2A8062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56" y="478579"/>
            <a:ext cx="8795288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CPU Scheduling Time Metrics</a:t>
            </a:r>
            <a:endParaRPr kumimoji="0" lang="en-US" altLang="ar-EG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ar-EG" altLang="ar-EG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Turnaround Time TAT</a:t>
            </a:r>
            <a:endParaRPr kumimoji="0" lang="ar-EG" altLang="ar-E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 The total time taken from the moment a process is submitted until it is completely finished.</a:t>
            </a:r>
            <a:endParaRPr kumimoji="0" lang="en-US" altLang="ar-EG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ar-EG" altLang="ar-EG" sz="1600" dirty="0">
              <a:latin typeface="Aharoni" panose="02010803020104030203" pitchFamily="2" charset="-79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Waiting Time WT</a:t>
            </a:r>
            <a:endParaRPr kumimoji="0" lang="ar-EG" altLang="ar-E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 The total time a process spends waiting in the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Ready Queue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.</a:t>
            </a:r>
            <a:endParaRPr lang="ar-EG" altLang="ar-EG" sz="1600" dirty="0">
              <a:latin typeface="Aharoni" panose="02010803020104030203" pitchFamily="2" charset="-79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ar-EG" altLang="ar-EG" sz="1600" dirty="0">
              <a:latin typeface="Aharoni" panose="02010803020104030203" pitchFamily="2" charset="-79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EG" altLang="ar-E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Response Time RT</a:t>
            </a:r>
            <a:endParaRPr kumimoji="0" lang="ar-EG" altLang="ar-E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 The time from process submission until the </a:t>
            </a:r>
            <a:r>
              <a:rPr kumimoji="0" lang="ar-EG" altLang="ar-E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first</a:t>
            </a:r>
            <a:r>
              <a:rPr kumimoji="0" lang="ar-EG" altLang="ar-E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</a:rPr>
              <a:t> response is produced </a:t>
            </a:r>
            <a:endParaRPr kumimoji="0" lang="ar-EG" altLang="ar-E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43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</TotalTime>
  <Words>390</Words>
  <Application>Microsoft Office PowerPoint</Application>
  <PresentationFormat>On-screen Show (16:9)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Aharoni</vt:lpstr>
      <vt:lpstr>Kanit</vt:lpstr>
      <vt:lpstr>Arial</vt:lpstr>
      <vt:lpstr>Abadi</vt:lpstr>
      <vt:lpstr>Martel Sans Light</vt:lpstr>
      <vt:lpstr>Calibri Light</vt:lpstr>
      <vt:lpstr>Calibri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Abd_Alrahman Emad</cp:lastModifiedBy>
  <cp:revision>3</cp:revision>
  <dcterms:created xsi:type="dcterms:W3CDTF">2026-05-09T17:43:09Z</dcterms:created>
  <dcterms:modified xsi:type="dcterms:W3CDTF">2026-05-09T18:26:14Z</dcterms:modified>
</cp:coreProperties>
</file>